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93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57" d="100"/>
          <a:sy n="57" d="100"/>
        </p:scale>
        <p:origin x="5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ercado" userId="53667e8fc0cb4dd0" providerId="LiveId" clId="{CBA7A93E-04BF-4674-99B8-1E4A92688858}"/>
    <pc:docChg chg="custSel addSld delSld modSld">
      <pc:chgData name="Fernando Mercado" userId="53667e8fc0cb4dd0" providerId="LiveId" clId="{CBA7A93E-04BF-4674-99B8-1E4A92688858}" dt="2026-06-26T17:32:04.624" v="8" actId="26606"/>
      <pc:docMkLst>
        <pc:docMk/>
      </pc:docMkLst>
      <pc:sldChg chg="addSp modSp mod">
        <pc:chgData name="Fernando Mercado" userId="53667e8fc0cb4dd0" providerId="LiveId" clId="{CBA7A93E-04BF-4674-99B8-1E4A92688858}" dt="2026-06-26T17:32:04.624" v="8" actId="26606"/>
        <pc:sldMkLst>
          <pc:docMk/>
          <pc:sldMk cId="4269681522" sldId="293"/>
        </pc:sldMkLst>
        <pc:spChg chg="mod">
          <ac:chgData name="Fernando Mercado" userId="53667e8fc0cb4dd0" providerId="LiveId" clId="{CBA7A93E-04BF-4674-99B8-1E4A92688858}" dt="2026-06-26T17:32:04.624" v="8" actId="26606"/>
          <ac:spMkLst>
            <pc:docMk/>
            <pc:sldMk cId="4269681522" sldId="293"/>
            <ac:spMk id="2" creationId="{18C3B467-088C-4F3D-A9A7-105C4E1E20CD}"/>
          </ac:spMkLst>
        </pc:spChg>
        <pc:spChg chg="mod">
          <ac:chgData name="Fernando Mercado" userId="53667e8fc0cb4dd0" providerId="LiveId" clId="{CBA7A93E-04BF-4674-99B8-1E4A92688858}" dt="2026-06-26T17:32:04.624" v="8" actId="26606"/>
          <ac:spMkLst>
            <pc:docMk/>
            <pc:sldMk cId="4269681522" sldId="293"/>
            <ac:spMk id="89" creationId="{2644B391-9BFE-445C-A9EC-F544BB85FBC7}"/>
          </ac:spMkLst>
        </pc:spChg>
        <pc:spChg chg="mod">
          <ac:chgData name="Fernando Mercado" userId="53667e8fc0cb4dd0" providerId="LiveId" clId="{CBA7A93E-04BF-4674-99B8-1E4A92688858}" dt="2026-06-26T17:32:04.624" v="8" actId="26606"/>
          <ac:spMkLst>
            <pc:docMk/>
            <pc:sldMk cId="4269681522" sldId="293"/>
            <ac:spMk id="91" creationId="{80F26E69-87D9-4655-AE7B-280A87AA3CAD}"/>
          </ac:spMkLst>
        </pc:spChg>
        <pc:spChg chg="add mod">
          <ac:chgData name="Fernando Mercado" userId="53667e8fc0cb4dd0" providerId="LiveId" clId="{CBA7A93E-04BF-4674-99B8-1E4A92688858}" dt="2026-06-26T17:32:04.624" v="8" actId="26606"/>
          <ac:spMkLst>
            <pc:docMk/>
            <pc:sldMk cId="4269681522" sldId="293"/>
            <ac:spMk id="120" creationId="{00000000-0000-0000-0000-000000000000}"/>
          </ac:spMkLst>
        </pc:spChg>
        <pc:spChg chg="add mod">
          <ac:chgData name="Fernando Mercado" userId="53667e8fc0cb4dd0" providerId="LiveId" clId="{CBA7A93E-04BF-4674-99B8-1E4A92688858}" dt="2026-06-26T17:32:04.624" v="8" actId="26606"/>
          <ac:spMkLst>
            <pc:docMk/>
            <pc:sldMk cId="4269681522" sldId="293"/>
            <ac:spMk id="121" creationId="{00000000-0000-0000-0000-000000000000}"/>
          </ac:spMkLst>
        </pc:spChg>
        <pc:spChg chg="add">
          <ac:chgData name="Fernando Mercado" userId="53667e8fc0cb4dd0" providerId="LiveId" clId="{CBA7A93E-04BF-4674-99B8-1E4A92688858}" dt="2026-06-26T17:32:04.624" v="8" actId="26606"/>
          <ac:spMkLst>
            <pc:docMk/>
            <pc:sldMk cId="4269681522" sldId="293"/>
            <ac:spMk id="122" creationId="{00000000-0000-0000-0000-000000000000}"/>
          </ac:spMkLst>
        </pc:spChg>
        <pc:spChg chg="add">
          <ac:chgData name="Fernando Mercado" userId="53667e8fc0cb4dd0" providerId="LiveId" clId="{CBA7A93E-04BF-4674-99B8-1E4A92688858}" dt="2026-06-26T17:32:04.624" v="8" actId="26606"/>
          <ac:spMkLst>
            <pc:docMk/>
            <pc:sldMk cId="4269681522" sldId="293"/>
            <ac:spMk id="123" creationId="{00000000-0000-0000-0000-000000000000}"/>
          </ac:spMkLst>
        </pc:spChg>
      </pc:sldChg>
      <pc:sldChg chg="modSp del mod">
        <pc:chgData name="Fernando Mercado" userId="53667e8fc0cb4dd0" providerId="LiveId" clId="{CBA7A93E-04BF-4674-99B8-1E4A92688858}" dt="2026-06-26T17:19:53.494" v="2" actId="26606"/>
        <pc:sldMkLst>
          <pc:docMk/>
          <pc:sldMk cId="2049548788" sldId="295"/>
        </pc:sldMkLst>
        <pc:spChg chg="mod">
          <ac:chgData name="Fernando Mercado" userId="53667e8fc0cb4dd0" providerId="LiveId" clId="{CBA7A93E-04BF-4674-99B8-1E4A92688858}" dt="2026-06-26T17:05:30.152" v="1" actId="20577"/>
          <ac:spMkLst>
            <pc:docMk/>
            <pc:sldMk cId="2049548788" sldId="295"/>
            <ac:spMk id="2" creationId="{92C9295F-E638-4F61-AFE2-CF3E40556031}"/>
          </ac:spMkLst>
        </pc:spChg>
      </pc:sldChg>
      <pc:sldChg chg="modSp add mod">
        <pc:chgData name="Fernando Mercado" userId="53667e8fc0cb4dd0" providerId="LiveId" clId="{CBA7A93E-04BF-4674-99B8-1E4A92688858}" dt="2026-06-26T17:19:53.694" v="3" actId="27636"/>
        <pc:sldMkLst>
          <pc:docMk/>
          <pc:sldMk cId="0" sldId="296"/>
        </pc:sldMkLst>
        <pc:spChg chg="mod">
          <ac:chgData name="Fernando Mercado" userId="53667e8fc0cb4dd0" providerId="LiveId" clId="{CBA7A93E-04BF-4674-99B8-1E4A92688858}" dt="2026-06-26T17:19:53.694" v="3" actId="27636"/>
          <ac:spMkLst>
            <pc:docMk/>
            <pc:sldMk cId="0" sldId="296"/>
            <ac:spMk id="105" creationId="{00000000-0000-0000-0000-000000000000}"/>
          </ac:spMkLst>
        </pc:spChg>
      </pc:sldChg>
      <pc:sldChg chg="add">
        <pc:chgData name="Fernando Mercado" userId="53667e8fc0cb4dd0" providerId="LiveId" clId="{CBA7A93E-04BF-4674-99B8-1E4A92688858}" dt="2026-06-26T17:19:53.494" v="2" actId="26606"/>
        <pc:sldMkLst>
          <pc:docMk/>
          <pc:sldMk cId="0" sldId="297"/>
        </pc:sldMkLst>
      </pc:sldChg>
      <pc:sldChg chg="modSp add mod">
        <pc:chgData name="Fernando Mercado" userId="53667e8fc0cb4dd0" providerId="LiveId" clId="{CBA7A93E-04BF-4674-99B8-1E4A92688858}" dt="2026-06-26T17:19:53.835" v="7" actId="27636"/>
        <pc:sldMkLst>
          <pc:docMk/>
          <pc:sldMk cId="0" sldId="298"/>
        </pc:sldMkLst>
        <pc:spChg chg="mod">
          <ac:chgData name="Fernando Mercado" userId="53667e8fc0cb4dd0" providerId="LiveId" clId="{CBA7A93E-04BF-4674-99B8-1E4A92688858}" dt="2026-06-26T17:19:53.830" v="5" actId="27636"/>
          <ac:spMkLst>
            <pc:docMk/>
            <pc:sldMk cId="0" sldId="298"/>
            <ac:spMk id="127" creationId="{00000000-0000-0000-0000-000000000000}"/>
          </ac:spMkLst>
        </pc:spChg>
        <pc:spChg chg="mod">
          <ac:chgData name="Fernando Mercado" userId="53667e8fc0cb4dd0" providerId="LiveId" clId="{CBA7A93E-04BF-4674-99B8-1E4A92688858}" dt="2026-06-26T17:19:53.832" v="6" actId="27636"/>
          <ac:spMkLst>
            <pc:docMk/>
            <pc:sldMk cId="0" sldId="298"/>
            <ac:spMk id="129" creationId="{00000000-0000-0000-0000-000000000000}"/>
          </ac:spMkLst>
        </pc:spChg>
        <pc:spChg chg="mod">
          <ac:chgData name="Fernando Mercado" userId="53667e8fc0cb4dd0" providerId="LiveId" clId="{CBA7A93E-04BF-4674-99B8-1E4A92688858}" dt="2026-06-26T17:19:53.835" v="7" actId="27636"/>
          <ac:spMkLst>
            <pc:docMk/>
            <pc:sldMk cId="0" sldId="298"/>
            <ac:spMk id="131" creationId="{00000000-0000-0000-0000-000000000000}"/>
          </ac:spMkLst>
        </pc:spChg>
        <pc:spChg chg="mod">
          <ac:chgData name="Fernando Mercado" userId="53667e8fc0cb4dd0" providerId="LiveId" clId="{CBA7A93E-04BF-4674-99B8-1E4A92688858}" dt="2026-06-26T17:19:53.827" v="4" actId="27636"/>
          <ac:spMkLst>
            <pc:docMk/>
            <pc:sldMk cId="0" sldId="298"/>
            <ac:spMk id="133" creationId="{00000000-0000-0000-0000-000000000000}"/>
          </ac:spMkLst>
        </pc:spChg>
      </pc:sldChg>
      <pc:sldChg chg="add">
        <pc:chgData name="Fernando Mercado" userId="53667e8fc0cb4dd0" providerId="LiveId" clId="{CBA7A93E-04BF-4674-99B8-1E4A92688858}" dt="2026-06-26T17:19:53.494" v="2" actId="26606"/>
        <pc:sldMkLst>
          <pc:docMk/>
          <pc:sldMk cId="0" sldId="299"/>
        </pc:sldMkLst>
      </pc:sldChg>
      <pc:sldChg chg="add">
        <pc:chgData name="Fernando Mercado" userId="53667e8fc0cb4dd0" providerId="LiveId" clId="{CBA7A93E-04BF-4674-99B8-1E4A92688858}" dt="2026-06-26T17:19:53.494" v="2" actId="26606"/>
        <pc:sldMkLst>
          <pc:docMk/>
          <pc:sldMk cId="0" sldId="300"/>
        </pc:sldMkLst>
      </pc:sldChg>
      <pc:sldChg chg="add">
        <pc:chgData name="Fernando Mercado" userId="53667e8fc0cb4dd0" providerId="LiveId" clId="{CBA7A93E-04BF-4674-99B8-1E4A92688858}" dt="2026-06-26T17:19:53.494" v="2" actId="26606"/>
        <pc:sldMkLst>
          <pc:docMk/>
          <pc:sldMk cId="0" sldId="301"/>
        </pc:sldMkLst>
      </pc:sldChg>
      <pc:sldChg chg="add">
        <pc:chgData name="Fernando Mercado" userId="53667e8fc0cb4dd0" providerId="LiveId" clId="{CBA7A93E-04BF-4674-99B8-1E4A92688858}" dt="2026-06-26T17:19:53.494" v="2" actId="26606"/>
        <pc:sldMkLst>
          <pc:docMk/>
          <pc:sldMk cId="0" sldId="302"/>
        </pc:sldMkLst>
      </pc:sldChg>
      <pc:sldChg chg="add">
        <pc:chgData name="Fernando Mercado" userId="53667e8fc0cb4dd0" providerId="LiveId" clId="{CBA7A93E-04BF-4674-99B8-1E4A92688858}" dt="2026-06-26T17:19:53.494" v="2" actId="26606"/>
        <pc:sldMkLst>
          <pc:docMk/>
          <pc:sldMk cId="0" sldId="303"/>
        </pc:sldMkLst>
      </pc:sldChg>
      <pc:sldChg chg="add">
        <pc:chgData name="Fernando Mercado" userId="53667e8fc0cb4dd0" providerId="LiveId" clId="{CBA7A93E-04BF-4674-99B8-1E4A92688858}" dt="2026-06-26T17:19:53.494" v="2" actId="26606"/>
        <pc:sldMkLst>
          <pc:docMk/>
          <pc:sldMk cId="0" sldId="30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BE791-43CC-4C0C-AE00-7EC3768CCC09}" type="datetime1">
              <a:rPr lang="es-ES" smtClean="0"/>
              <a:t>26/06/2026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61881-24D7-49CE-A58A-4F7EEFB66F8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58639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AE10B-F5DF-46F3-A009-1BCB9594275B}" type="datetime1">
              <a:rPr lang="es-ES" smtClean="0"/>
              <a:t>26/06/2026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6BA0F-C779-4027-9BBF-AC1F3E00E7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2730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6BA0F-C779-4027-9BBF-AC1F3E00E754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22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 useBgFill="1"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0" name="Marcador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D2D75874-01AA-4194-8F8F-2BE8DD6AB75A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21" name="Marcador de posición de pie de pá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22" name="Marcador de posición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C1A4FC-81E4-453A-B1E7-80A9FABF40AE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 useBgFill="1"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598393B2-CE85-4556-84B1-B4187936402E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61E05F-71FC-418A-888C-20D7252833AC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C39358-08BC-41D4-8E0F-3910C47B3BD4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62A21C-C4BF-4A0F-AC3C-865C4EDD59BB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583B17-3A89-408C-8DF4-CC40CE6DA771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137A1F84-97CB-4522-B1DF-7C9144B0ABC9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s-ES" noProof="0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9B5BD9D-CA38-4324-9825-66E2E6C3B038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899F3E-BBD3-414B-B748-30A0B0EC9B88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33E7C5-ECA6-4447-9054-65F5EA12AE9D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MX"/>
          </a:p>
        </p:txBody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7D314E9-F220-4689-A698-7EF487A82C30}" type="datetime1">
              <a:rPr lang="es-ES" noProof="0" smtClean="0"/>
              <a:t>26/06/2026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89" name="Rectángulo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750000"/>
            <a:ext cx="5452527" cy="3450000"/>
          </a:xfrm>
          <a:prstGeom prst="rect">
            <a:avLst/>
          </a:prstGeom>
          <a:solidFill>
            <a:srgbClr val="153A63"/>
          </a:solidFill>
          <a:ln w="6350" cap="sq" cmpd="sng" algn="ctr">
            <a:noFill/>
            <a:prstDash val="solid"/>
            <a:miter lim="800000"/>
          </a:ln>
          <a:effectLst>
            <a:outerShdw blurRad="120000" dist="508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16572"/>
            <a:ext cx="5120640" cy="3116856"/>
          </a:xfrm>
          <a:prstGeom prst="rect">
            <a:avLst/>
          </a:prstGeom>
          <a:noFill/>
          <a:ln w="9525" cap="sq" cmpd="sng" algn="ctr">
            <a:solidFill>
              <a:srgbClr val="009DD9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2" y="2540000"/>
            <a:ext cx="4775075" cy="1480000"/>
          </a:xfrm>
        </p:spPr>
        <p:txBody>
          <a:bodyPr rtlCol="0">
            <a:normAutofit/>
          </a:bodyPr>
          <a:lstStyle/>
          <a:p>
            <a:r>
              <a:rPr lang="es-ES" sz="4400" b="1">
                <a:solidFill>
                  <a:srgbClr val="FFFFFF"/>
                </a:solidFill>
              </a:rPr>
              <a:t>Operadores ineficientes </a:t>
            </a:r>
          </a:p>
        </p:txBody>
      </p:sp>
      <p:sp>
        <p:nvSpPr>
          <p:cNvPr id="122" name="AccentBar"/>
          <p:cNvSpPr/>
          <p:nvPr/>
        </p:nvSpPr>
        <p:spPr>
          <a:xfrm>
            <a:off x="6033792" y="1980000"/>
            <a:ext cx="620000" cy="7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20" name="Kicker"/>
          <p:cNvSpPr txBox="1"/>
          <p:nvPr/>
        </p:nvSpPr>
        <p:spPr>
          <a:xfrm>
            <a:off x="6033792" y="2120000"/>
            <a:ext cx="4775075" cy="30000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>
              <a:buNone/>
            </a:pPr>
            <a:r>
              <a:rPr lang="es-MX" sz="1200" b="1" spc="260">
                <a:solidFill>
                  <a:srgbClr val="6FD0EF"/>
                </a:solidFill>
              </a:rPr>
              <a:t>REPORTE DE ANÁLISIS · CALLMEMAYBE</a:t>
            </a:r>
          </a:p>
        </p:txBody>
      </p:sp>
      <p:sp>
        <p:nvSpPr>
          <p:cNvPr id="121" name="Subtitulo"/>
          <p:cNvSpPr txBox="1"/>
          <p:nvPr/>
        </p:nvSpPr>
        <p:spPr>
          <a:xfrm>
            <a:off x="6033792" y="4080000"/>
            <a:ext cx="4775075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s-MX" sz="1400">
                <a:solidFill>
                  <a:srgbClr val="CFE7F5"/>
                </a:solidFill>
              </a:rPr>
              <a:t>Desempeño de operadores y calidad de datos del historial de llamadas</a:t>
            </a:r>
          </a:p>
        </p:txBody>
      </p:sp>
      <p:sp>
        <p:nvSpPr>
          <p:cNvPr id="123" name="FechaReporte"/>
          <p:cNvSpPr txBox="1"/>
          <p:nvPr/>
        </p:nvSpPr>
        <p:spPr>
          <a:xfrm>
            <a:off x="6033792" y="4650000"/>
            <a:ext cx="4775075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buNone/>
            </a:pPr>
            <a:r>
              <a:rPr lang="es-MX" sz="1050" b="1" spc="180">
                <a:solidFill>
                  <a:srgbClr val="8FB3CC"/>
                </a:solidFill>
              </a:rPr>
              <a:t>JUNIO 2026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n contexto"/>
          <p:cNvPicPr>
            <a:picLocks noChangeAspect="1"/>
          </p:cNvPicPr>
          <p:nvPr/>
        </p:nvPicPr>
        <p:blipFill>
          <a:blip r:embed="rId2"/>
          <a:srcRect b="11086"/>
          <a:stretch>
            <a:fillRect/>
          </a:stretch>
        </p:blipFill>
        <p:spPr>
          <a:xfrm>
            <a:off x="7050000" y="0"/>
            <a:ext cx="5142000" cy="6858000"/>
          </a:xfrm>
          <a:prstGeom prst="rect">
            <a:avLst/>
          </a:prstGeom>
        </p:spPr>
      </p:pic>
      <p:sp>
        <p:nvSpPr>
          <p:cNvPr id="101" name="tx101"/>
          <p:cNvSpPr txBox="1"/>
          <p:nvPr/>
        </p:nvSpPr>
        <p:spPr>
          <a:xfrm>
            <a:off x="686000" y="470000"/>
            <a:ext cx="615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01 · CONTEXTO</a:t>
            </a:r>
          </a:p>
        </p:txBody>
      </p:sp>
      <p:sp>
        <p:nvSpPr>
          <p:cNvPr id="102" name="tx102"/>
          <p:cNvSpPr txBox="1"/>
          <p:nvPr/>
        </p:nvSpPr>
        <p:spPr>
          <a:xfrm>
            <a:off x="686000" y="800000"/>
            <a:ext cx="615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Contexto y objetivos</a:t>
            </a:r>
          </a:p>
        </p:txBody>
      </p:sp>
      <p:sp>
        <p:nvSpPr>
          <p:cNvPr id="103" name="rc103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4" name="tx104"/>
          <p:cNvSpPr txBox="1"/>
          <p:nvPr/>
        </p:nvSpPr>
        <p:spPr>
          <a:xfrm>
            <a:off x="686000" y="1880000"/>
            <a:ext cx="6150000" cy="1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500">
                <a:solidFill>
                  <a:srgbClr val="5A6B7B"/>
                </a:solidFill>
              </a:rPr>
              <a:t>CallMeMaybe es un servicio de telefonía virtual que busca elevar la calidad de su operación. Este reporte evalúa el desempeño de los operadores a partir de su historial de llamadas.</a:t>
            </a:r>
          </a:p>
        </p:txBody>
      </p:sp>
      <p:sp>
        <p:nvSpPr>
          <p:cNvPr id="105" name="rc105"/>
          <p:cNvSpPr/>
          <p:nvPr/>
        </p:nvSpPr>
        <p:spPr>
          <a:xfrm>
            <a:off x="686000" y="3320000"/>
            <a:ext cx="6150000" cy="76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137160" tIns="91440" rIns="137160" bIns="91440" anchor="ctr">
            <a:normAutofit fontScale="92500" lnSpcReduction="20000"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1050" b="1" spc="160">
                <a:solidFill>
                  <a:srgbClr val="009DD9"/>
                </a:solidFill>
              </a:rPr>
              <a:t>OBJETIVO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300">
                <a:solidFill>
                  <a:srgbClr val="FFFFFF"/>
                </a:solidFill>
              </a:rPr>
              <a:t>Identificar operadores ineficientes mediante análisis exploratorio, métricas de desempeño y pruebas estadísticas.</a:t>
            </a:r>
          </a:p>
        </p:txBody>
      </p:sp>
      <p:sp>
        <p:nvSpPr>
          <p:cNvPr id="106" name="rc106"/>
          <p:cNvSpPr/>
          <p:nvPr/>
        </p:nvSpPr>
        <p:spPr>
          <a:xfrm>
            <a:off x="686000" y="4350000"/>
            <a:ext cx="150000" cy="64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7" name="rc107"/>
          <p:cNvSpPr/>
          <p:nvPr/>
        </p:nvSpPr>
        <p:spPr>
          <a:xfrm>
            <a:off x="896000" y="4350000"/>
            <a:ext cx="5940000" cy="640000"/>
          </a:xfrm>
          <a:prstGeom prst="roundRect">
            <a:avLst/>
          </a:prstGeom>
          <a:solidFill>
            <a:srgbClr val="F2F8FC"/>
          </a:solidFill>
          <a:ln>
            <a:noFill/>
          </a:ln>
        </p:spPr>
        <p:txBody>
          <a:bodyPr wrap="square" lIns="160000" tIns="91440" rIns="137160" bIns="91440" anchor="ctr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>
                <a:solidFill>
                  <a:srgbClr val="17406D"/>
                </a:solidFill>
              </a:rPr>
              <a:t>Llamadas perdidas  </a:t>
            </a:r>
            <a:r>
              <a:rPr lang="es-MX" sz="1200">
                <a:solidFill>
                  <a:srgbClr val="5A6B7B"/>
                </a:solidFill>
              </a:rPr>
              <a:t>— Volumen de llamadas no atendidas</a:t>
            </a:r>
          </a:p>
        </p:txBody>
      </p:sp>
      <p:sp>
        <p:nvSpPr>
          <p:cNvPr id="108" name="rc108"/>
          <p:cNvSpPr/>
          <p:nvPr/>
        </p:nvSpPr>
        <p:spPr>
          <a:xfrm>
            <a:off x="686000" y="5110000"/>
            <a:ext cx="150000" cy="64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9" name="rc109"/>
          <p:cNvSpPr/>
          <p:nvPr/>
        </p:nvSpPr>
        <p:spPr>
          <a:xfrm>
            <a:off x="896000" y="5110000"/>
            <a:ext cx="5940000" cy="640000"/>
          </a:xfrm>
          <a:prstGeom prst="roundRect">
            <a:avLst/>
          </a:prstGeom>
          <a:solidFill>
            <a:srgbClr val="F2F8FC"/>
          </a:solidFill>
          <a:ln>
            <a:noFill/>
          </a:ln>
        </p:spPr>
        <p:txBody>
          <a:bodyPr wrap="square" lIns="160000" tIns="91440" rIns="137160" bIns="91440" anchor="ctr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>
                <a:solidFill>
                  <a:srgbClr val="17406D"/>
                </a:solidFill>
              </a:rPr>
              <a:t>Tiempos de espera  </a:t>
            </a:r>
            <a:r>
              <a:rPr lang="es-MX" sz="1200">
                <a:solidFill>
                  <a:srgbClr val="5A6B7B"/>
                </a:solidFill>
              </a:rPr>
              <a:t>— Demoras antes de atender</a:t>
            </a:r>
          </a:p>
        </p:txBody>
      </p:sp>
      <p:sp>
        <p:nvSpPr>
          <p:cNvPr id="110" name="rc110"/>
          <p:cNvSpPr/>
          <p:nvPr/>
        </p:nvSpPr>
        <p:spPr>
          <a:xfrm>
            <a:off x="686000" y="5870000"/>
            <a:ext cx="150000" cy="64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11" name="rc111"/>
          <p:cNvSpPr/>
          <p:nvPr/>
        </p:nvSpPr>
        <p:spPr>
          <a:xfrm>
            <a:off x="896000" y="5870000"/>
            <a:ext cx="5940000" cy="640000"/>
          </a:xfrm>
          <a:prstGeom prst="roundRect">
            <a:avLst/>
          </a:prstGeom>
          <a:solidFill>
            <a:srgbClr val="F2F8FC"/>
          </a:solidFill>
          <a:ln>
            <a:noFill/>
          </a:ln>
        </p:spPr>
        <p:txBody>
          <a:bodyPr wrap="square" lIns="160000" tIns="91440" rIns="137160" bIns="91440" anchor="ctr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>
                <a:solidFill>
                  <a:srgbClr val="17406D"/>
                </a:solidFill>
              </a:rPr>
              <a:t>Llamadas salientes  </a:t>
            </a:r>
            <a:r>
              <a:rPr lang="es-MX" sz="1200">
                <a:solidFill>
                  <a:srgbClr val="5A6B7B"/>
                </a:solidFill>
              </a:rPr>
              <a:t>— Actividad proactiva del operador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x112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02 · PROBLEMA</a:t>
            </a:r>
          </a:p>
        </p:txBody>
      </p:sp>
      <p:sp>
        <p:nvSpPr>
          <p:cNvPr id="113" name="tx113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El problema de negocio</a:t>
            </a:r>
          </a:p>
        </p:txBody>
      </p:sp>
      <p:sp>
        <p:nvSpPr>
          <p:cNvPr id="114" name="rc114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15" name="rc115"/>
          <p:cNvSpPr/>
          <p:nvPr/>
        </p:nvSpPr>
        <p:spPr>
          <a:xfrm>
            <a:off x="686000" y="1880000"/>
            <a:ext cx="10820000" cy="88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300000" tIns="91440" rIns="300000" bIns="91440" anchor="ctr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700" b="1">
                <a:solidFill>
                  <a:srgbClr val="FFFFFF"/>
                </a:solidFill>
              </a:rPr>
              <a:t>No existe un sistema objetivo para evaluar el desempeño de cada operador.</a:t>
            </a:r>
          </a:p>
        </p:txBody>
      </p:sp>
      <p:sp>
        <p:nvSpPr>
          <p:cNvPr id="116" name="rc116"/>
          <p:cNvSpPr/>
          <p:nvPr/>
        </p:nvSpPr>
        <p:spPr>
          <a:xfrm>
            <a:off x="686000" y="3030000"/>
            <a:ext cx="3406666" cy="190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00000" tIns="210000" rIns="20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  <a:buNone/>
            </a:pPr>
            <a:r>
              <a:rPr lang="es-MX" sz="1500" b="1">
                <a:solidFill>
                  <a:srgbClr val="17406D"/>
                </a:solidFill>
              </a:rPr>
              <a:t>Llamadas perdidas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Un alto volumen de llamadas no se atiende a tiempo.</a:t>
            </a:r>
          </a:p>
        </p:txBody>
      </p:sp>
      <p:sp>
        <p:nvSpPr>
          <p:cNvPr id="117" name="rc117"/>
          <p:cNvSpPr/>
          <p:nvPr/>
        </p:nvSpPr>
        <p:spPr>
          <a:xfrm>
            <a:off x="686000" y="3030000"/>
            <a:ext cx="3406666" cy="9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18" name="rc118"/>
          <p:cNvSpPr/>
          <p:nvPr/>
        </p:nvSpPr>
        <p:spPr>
          <a:xfrm>
            <a:off x="4392666" y="3030000"/>
            <a:ext cx="3406666" cy="190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00000" tIns="210000" rIns="20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  <a:buNone/>
            </a:pPr>
            <a:r>
              <a:rPr lang="es-MX" sz="1500" b="1">
                <a:solidFill>
                  <a:srgbClr val="17406D"/>
                </a:solidFill>
              </a:rPr>
              <a:t>Tiempos de espera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Demoras prolongadas antes de contestar al cliente.</a:t>
            </a:r>
          </a:p>
        </p:txBody>
      </p:sp>
      <p:sp>
        <p:nvSpPr>
          <p:cNvPr id="119" name="rc119"/>
          <p:cNvSpPr/>
          <p:nvPr/>
        </p:nvSpPr>
        <p:spPr>
          <a:xfrm>
            <a:off x="4392666" y="3030000"/>
            <a:ext cx="3406666" cy="9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20" name="rc120"/>
          <p:cNvSpPr/>
          <p:nvPr/>
        </p:nvSpPr>
        <p:spPr>
          <a:xfrm>
            <a:off x="8099332" y="3030000"/>
            <a:ext cx="3406666" cy="190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00000" tIns="210000" rIns="20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  <a:buNone/>
            </a:pPr>
            <a:r>
              <a:rPr lang="es-MX" sz="1500" b="1">
                <a:solidFill>
                  <a:srgbClr val="17406D"/>
                </a:solidFill>
              </a:rPr>
              <a:t>Llamadas salientes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Baja actividad saliente por parte de los operadores.</a:t>
            </a:r>
          </a:p>
        </p:txBody>
      </p:sp>
      <p:sp>
        <p:nvSpPr>
          <p:cNvPr id="121" name="rc121"/>
          <p:cNvSpPr/>
          <p:nvPr/>
        </p:nvSpPr>
        <p:spPr>
          <a:xfrm>
            <a:off x="8099332" y="3030000"/>
            <a:ext cx="3406666" cy="9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22" name="tx122"/>
          <p:cNvSpPr txBox="1"/>
          <p:nvPr/>
        </p:nvSpPr>
        <p:spPr>
          <a:xfrm>
            <a:off x="686000" y="5180000"/>
            <a:ext cx="1082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s-MX" sz="1350" i="1">
                <a:solidFill>
                  <a:srgbClr val="5A6B7B"/>
                </a:solidFill>
              </a:rPr>
              <a:t>Estos factores afectan la calidad del servicio y generan pérdidas para la empresa.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x123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03 · METODOLOGÍA</a:t>
            </a:r>
          </a:p>
        </p:txBody>
      </p:sp>
      <p:sp>
        <p:nvSpPr>
          <p:cNvPr id="124" name="tx124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Enfoque del análisis</a:t>
            </a:r>
          </a:p>
        </p:txBody>
      </p:sp>
      <p:sp>
        <p:nvSpPr>
          <p:cNvPr id="125" name="rc125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26" name="rc126"/>
          <p:cNvSpPr/>
          <p:nvPr/>
        </p:nvSpPr>
        <p:spPr>
          <a:xfrm>
            <a:off x="686000" y="2080000"/>
            <a:ext cx="2525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EC"/>
            </a:solidFill>
          </a:ln>
          <a:effectLst>
            <a:outerShdw blurRad="90000" dist="38100" dir="5400000" rotWithShape="0">
              <a:srgbClr val="17406D">
                <a:alpha val="18000"/>
              </a:srgbClr>
            </a:outerShdw>
          </a:effectLst>
        </p:spPr>
        <p:txBody>
          <a:bodyPr wrap="square" lIns="190000" tIns="820000" rIns="19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s-MX" sz="1400" b="1">
                <a:solidFill>
                  <a:srgbClr val="17406D"/>
                </a:solidFill>
              </a:rPr>
              <a:t>Limpieza de datos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Depuración y validación de los registros.</a:t>
            </a:r>
          </a:p>
        </p:txBody>
      </p:sp>
      <p:sp>
        <p:nvSpPr>
          <p:cNvPr id="127" name="rc127"/>
          <p:cNvSpPr/>
          <p:nvPr/>
        </p:nvSpPr>
        <p:spPr>
          <a:xfrm>
            <a:off x="876000" y="2280000"/>
            <a:ext cx="520000" cy="520000"/>
          </a:xfrm>
          <a:prstGeom prst="ellipse">
            <a:avLst/>
          </a:prstGeom>
          <a:solidFill>
            <a:srgbClr val="0F6FC6"/>
          </a:solidFill>
          <a:ln>
            <a:noFill/>
          </a:ln>
        </p:spPr>
        <p:txBody>
          <a:bodyPr wrap="square" lIns="137160" tIns="91440" rIns="137160" bIns="91440" anchor="ctr">
            <a:normAutofit fontScale="85000" lnSpcReduction="20000"/>
          </a:bodyPr>
          <a:lstStyle/>
          <a:p>
            <a:pPr algn="ctr">
              <a:lnSpc>
                <a:spcPct val="104000"/>
              </a:lnSpc>
              <a:buNone/>
            </a:pPr>
            <a:r>
              <a:rPr lang="es-MX"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8" name="rc128"/>
          <p:cNvSpPr/>
          <p:nvPr/>
        </p:nvSpPr>
        <p:spPr>
          <a:xfrm>
            <a:off x="3451000" y="2080000"/>
            <a:ext cx="2525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EC"/>
            </a:solidFill>
          </a:ln>
          <a:effectLst>
            <a:outerShdw blurRad="90000" dist="38100" dir="5400000" rotWithShape="0">
              <a:srgbClr val="17406D">
                <a:alpha val="18000"/>
              </a:srgbClr>
            </a:outerShdw>
          </a:effectLst>
        </p:spPr>
        <p:txBody>
          <a:bodyPr wrap="square" lIns="190000" tIns="820000" rIns="19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s-MX" sz="1400" b="1">
                <a:solidFill>
                  <a:srgbClr val="17406D"/>
                </a:solidFill>
              </a:rPr>
              <a:t>Análisis exploratorio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Métricas de desempeño y patrones de actividad.</a:t>
            </a:r>
          </a:p>
        </p:txBody>
      </p:sp>
      <p:sp>
        <p:nvSpPr>
          <p:cNvPr id="129" name="rc129"/>
          <p:cNvSpPr/>
          <p:nvPr/>
        </p:nvSpPr>
        <p:spPr>
          <a:xfrm>
            <a:off x="3641000" y="2280000"/>
            <a:ext cx="520000" cy="520000"/>
          </a:xfrm>
          <a:prstGeom prst="ellipse">
            <a:avLst/>
          </a:prstGeom>
          <a:solidFill>
            <a:srgbClr val="0F6FC6"/>
          </a:solidFill>
          <a:ln>
            <a:noFill/>
          </a:ln>
        </p:spPr>
        <p:txBody>
          <a:bodyPr wrap="square" lIns="137160" tIns="91440" rIns="137160" bIns="91440" anchor="ctr">
            <a:normAutofit fontScale="85000" lnSpcReduction="20000"/>
          </a:bodyPr>
          <a:lstStyle/>
          <a:p>
            <a:pPr algn="ctr">
              <a:lnSpc>
                <a:spcPct val="104000"/>
              </a:lnSpc>
              <a:buNone/>
            </a:pPr>
            <a:r>
              <a:rPr lang="es-MX"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0" name="rc130"/>
          <p:cNvSpPr/>
          <p:nvPr/>
        </p:nvSpPr>
        <p:spPr>
          <a:xfrm>
            <a:off x="6216000" y="2080000"/>
            <a:ext cx="2525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EC"/>
            </a:solidFill>
          </a:ln>
          <a:effectLst>
            <a:outerShdw blurRad="90000" dist="38100" dir="5400000" rotWithShape="0">
              <a:srgbClr val="17406D">
                <a:alpha val="18000"/>
              </a:srgbClr>
            </a:outerShdw>
          </a:effectLst>
        </p:spPr>
        <p:txBody>
          <a:bodyPr wrap="square" lIns="190000" tIns="820000" rIns="19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s-MX" sz="1400" b="1">
                <a:solidFill>
                  <a:srgbClr val="17406D"/>
                </a:solidFill>
              </a:rPr>
              <a:t>Criterios de eficiencia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Definición argumentada con base en los datos.</a:t>
            </a:r>
          </a:p>
        </p:txBody>
      </p:sp>
      <p:sp>
        <p:nvSpPr>
          <p:cNvPr id="131" name="rc131"/>
          <p:cNvSpPr/>
          <p:nvPr/>
        </p:nvSpPr>
        <p:spPr>
          <a:xfrm>
            <a:off x="6406000" y="2280000"/>
            <a:ext cx="520000" cy="520000"/>
          </a:xfrm>
          <a:prstGeom prst="ellipse">
            <a:avLst/>
          </a:prstGeom>
          <a:solidFill>
            <a:srgbClr val="0F6FC6"/>
          </a:solidFill>
          <a:ln>
            <a:noFill/>
          </a:ln>
        </p:spPr>
        <p:txBody>
          <a:bodyPr wrap="square" lIns="137160" tIns="91440" rIns="137160" bIns="91440" anchor="ctr">
            <a:normAutofit fontScale="85000" lnSpcReduction="20000"/>
          </a:bodyPr>
          <a:lstStyle/>
          <a:p>
            <a:pPr algn="ctr">
              <a:lnSpc>
                <a:spcPct val="104000"/>
              </a:lnSpc>
              <a:buNone/>
            </a:pPr>
            <a:r>
              <a:rPr lang="es-MX"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2" name="rc132"/>
          <p:cNvSpPr/>
          <p:nvPr/>
        </p:nvSpPr>
        <p:spPr>
          <a:xfrm>
            <a:off x="8981000" y="2080000"/>
            <a:ext cx="2525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0EC"/>
            </a:solidFill>
          </a:ln>
          <a:effectLst>
            <a:outerShdw blurRad="90000" dist="38100" dir="5400000" rotWithShape="0">
              <a:srgbClr val="17406D">
                <a:alpha val="18000"/>
              </a:srgbClr>
            </a:outerShdw>
          </a:effectLst>
        </p:spPr>
        <p:txBody>
          <a:bodyPr wrap="square" lIns="190000" tIns="820000" rIns="19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s-MX" sz="1400" b="1">
                <a:solidFill>
                  <a:srgbClr val="17406D"/>
                </a:solidFill>
              </a:rPr>
              <a:t>Prueba de hipótesis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Comparación estadística entre grupos.</a:t>
            </a:r>
          </a:p>
        </p:txBody>
      </p:sp>
      <p:sp>
        <p:nvSpPr>
          <p:cNvPr id="133" name="rc133"/>
          <p:cNvSpPr/>
          <p:nvPr/>
        </p:nvSpPr>
        <p:spPr>
          <a:xfrm>
            <a:off x="9171000" y="2280000"/>
            <a:ext cx="520000" cy="520000"/>
          </a:xfrm>
          <a:prstGeom prst="ellipse">
            <a:avLst/>
          </a:prstGeom>
          <a:solidFill>
            <a:srgbClr val="0F6FC6"/>
          </a:solidFill>
          <a:ln>
            <a:noFill/>
          </a:ln>
        </p:spPr>
        <p:txBody>
          <a:bodyPr wrap="square" lIns="137160" tIns="91440" rIns="137160" bIns="91440" anchor="ctr">
            <a:normAutofit fontScale="85000" lnSpcReduction="20000"/>
          </a:bodyPr>
          <a:lstStyle/>
          <a:p>
            <a:pPr algn="ctr">
              <a:lnSpc>
                <a:spcPct val="104000"/>
              </a:lnSpc>
              <a:buNone/>
            </a:pPr>
            <a:r>
              <a:rPr lang="es-MX"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4" name="rc134"/>
          <p:cNvSpPr/>
          <p:nvPr/>
        </p:nvSpPr>
        <p:spPr>
          <a:xfrm>
            <a:off x="686000" y="4880000"/>
            <a:ext cx="10820000" cy="720000"/>
          </a:xfrm>
          <a:prstGeom prst="roundRect">
            <a:avLst/>
          </a:prstGeom>
          <a:solidFill>
            <a:srgbClr val="DBEFF9"/>
          </a:solidFill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s-MX" sz="1300" b="1">
                <a:solidFill>
                  <a:srgbClr val="17406D"/>
                </a:solidFill>
              </a:rPr>
              <a:t>Fuentes de datos:  </a:t>
            </a:r>
            <a:r>
              <a:rPr lang="es-MX" sz="1300">
                <a:solidFill>
                  <a:srgbClr val="1F2D3D"/>
                </a:solidFill>
              </a:rPr>
              <a:t>historial de 53,902 registros de llamadas y catálogo de 732 clientes.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x135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04 · DATOS</a:t>
            </a:r>
          </a:p>
        </p:txBody>
      </p:sp>
      <p:sp>
        <p:nvSpPr>
          <p:cNvPr id="136" name="tx136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Calidad y preparación de los datos</a:t>
            </a:r>
          </a:p>
        </p:txBody>
      </p:sp>
      <p:sp>
        <p:nvSpPr>
          <p:cNvPr id="137" name="rc137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38" name="rc138"/>
          <p:cNvSpPr/>
          <p:nvPr/>
        </p:nvSpPr>
        <p:spPr>
          <a:xfrm>
            <a:off x="686000" y="2080000"/>
            <a:ext cx="2525000" cy="182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00000" tIns="91440" rIns="16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3200" b="1">
                <a:solidFill>
                  <a:srgbClr val="0F6FC6"/>
                </a:solidFill>
              </a:rPr>
              <a:t>4,900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Registros duplicados eliminados</a:t>
            </a:r>
          </a:p>
        </p:txBody>
      </p:sp>
      <p:sp>
        <p:nvSpPr>
          <p:cNvPr id="139" name="rc139"/>
          <p:cNvSpPr/>
          <p:nvPr/>
        </p:nvSpPr>
        <p:spPr>
          <a:xfrm>
            <a:off x="3451000" y="2080000"/>
            <a:ext cx="2525000" cy="182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00000" tIns="91440" rIns="16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3200" b="1">
                <a:solidFill>
                  <a:srgbClr val="009DD9"/>
                </a:solidFill>
              </a:rPr>
              <a:t>8,172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Valores faltantes en operador</a:t>
            </a:r>
          </a:p>
        </p:txBody>
      </p:sp>
      <p:sp>
        <p:nvSpPr>
          <p:cNvPr id="140" name="rc140"/>
          <p:cNvSpPr/>
          <p:nvPr/>
        </p:nvSpPr>
        <p:spPr>
          <a:xfrm>
            <a:off x="6216000" y="2080000"/>
            <a:ext cx="2525000" cy="182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00000" tIns="91440" rIns="16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3200" b="1">
                <a:solidFill>
                  <a:srgbClr val="17406D"/>
                </a:solidFill>
              </a:rPr>
              <a:t>23,000+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Llamadas con duración cero</a:t>
            </a:r>
          </a:p>
        </p:txBody>
      </p:sp>
      <p:sp>
        <p:nvSpPr>
          <p:cNvPr id="141" name="rc141"/>
          <p:cNvSpPr/>
          <p:nvPr/>
        </p:nvSpPr>
        <p:spPr>
          <a:xfrm>
            <a:off x="8981000" y="2080000"/>
            <a:ext cx="2525000" cy="182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00000" tIns="91440" rIns="16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3200" b="1">
                <a:solidFill>
                  <a:srgbClr val="0F6FC6"/>
                </a:solidFill>
              </a:rPr>
              <a:t>19.37%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00">
                <a:solidFill>
                  <a:srgbClr val="5A6B7B"/>
                </a:solidFill>
              </a:rPr>
              <a:t>Registros válidos conservados</a:t>
            </a:r>
          </a:p>
        </p:txBody>
      </p:sp>
      <p:sp>
        <p:nvSpPr>
          <p:cNvPr id="142" name="rc142"/>
          <p:cNvSpPr/>
          <p:nvPr/>
        </p:nvSpPr>
        <p:spPr>
          <a:xfrm>
            <a:off x="686000" y="4250000"/>
            <a:ext cx="10820000" cy="130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320000" tIns="91440" rIns="32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50"/>
              </a:spcAft>
              <a:buNone/>
            </a:pPr>
            <a:r>
              <a:rPr lang="es-MX" sz="1150" b="1" spc="140">
                <a:solidFill>
                  <a:srgbClr val="009DD9"/>
                </a:solidFill>
              </a:rPr>
              <a:t>Resultado de la depuración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400">
                <a:solidFill>
                  <a:srgbClr val="FFFFFF"/>
                </a:solidFill>
              </a:rPr>
              <a:t>Tras conservar únicamente las llamadas individuales (una llamada por registro), el conjunto se redujo de 53,902 a 10,439 registros: la base depurada con la que es posible analizar llamadas reales sin agregaciones.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x143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05 · HALLAZGOS</a:t>
            </a:r>
          </a:p>
        </p:txBody>
      </p:sp>
      <p:sp>
        <p:nvSpPr>
          <p:cNvPr id="144" name="tx144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Las llamadas son muy cortas</a:t>
            </a:r>
          </a:p>
        </p:txBody>
      </p:sp>
      <p:sp>
        <p:nvSpPr>
          <p:cNvPr id="145" name="rc145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46" name="rc146"/>
          <p:cNvSpPr/>
          <p:nvPr/>
        </p:nvSpPr>
        <p:spPr>
          <a:xfrm>
            <a:off x="686000" y="2080000"/>
            <a:ext cx="4250000" cy="345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360000" tIns="91440" rIns="30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s-MX" sz="5400" b="1">
                <a:solidFill>
                  <a:srgbClr val="FFFFFF"/>
                </a:solidFill>
              </a:rPr>
              <a:t>~40 s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450" b="1">
                <a:solidFill>
                  <a:srgbClr val="009DD9"/>
                </a:solidFill>
              </a:rPr>
              <a:t>mediana de duración por llamada</a:t>
            </a:r>
          </a:p>
        </p:txBody>
      </p:sp>
      <p:sp>
        <p:nvSpPr>
          <p:cNvPr id="147" name="rc147"/>
          <p:cNvSpPr/>
          <p:nvPr/>
        </p:nvSpPr>
        <p:spPr>
          <a:xfrm>
            <a:off x="5240000" y="2080000"/>
            <a:ext cx="6266000" cy="1625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40000" tIns="91440" rIns="24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1350" b="1">
                <a:solidFill>
                  <a:srgbClr val="17406D"/>
                </a:solidFill>
              </a:rPr>
              <a:t>Concentradas bajo 2 minutos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La gran mayoría de las llamadas dura muy poco tiempo.</a:t>
            </a:r>
          </a:p>
        </p:txBody>
      </p:sp>
      <p:sp>
        <p:nvSpPr>
          <p:cNvPr id="148" name="rc148"/>
          <p:cNvSpPr/>
          <p:nvPr/>
        </p:nvSpPr>
        <p:spPr>
          <a:xfrm>
            <a:off x="5240000" y="2080000"/>
            <a:ext cx="90000" cy="1625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49" name="rc149"/>
          <p:cNvSpPr/>
          <p:nvPr/>
        </p:nvSpPr>
        <p:spPr>
          <a:xfrm>
            <a:off x="5240000" y="3905000"/>
            <a:ext cx="6266000" cy="1625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40000" tIns="91440" rIns="24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1350" b="1">
                <a:solidFill>
                  <a:srgbClr val="17406D"/>
                </a:solidFill>
              </a:rPr>
              <a:t>Señal de fricción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Refleja llamadas colgadas, abandonadas o fallidas antes de ser atendidas.</a:t>
            </a:r>
          </a:p>
        </p:txBody>
      </p:sp>
      <p:sp>
        <p:nvSpPr>
          <p:cNvPr id="150" name="rc150"/>
          <p:cNvSpPr/>
          <p:nvPr/>
        </p:nvSpPr>
        <p:spPr>
          <a:xfrm>
            <a:off x="5240000" y="3905000"/>
            <a:ext cx="90000" cy="1625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x151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05 · HALLAZGOS</a:t>
            </a:r>
          </a:p>
        </p:txBody>
      </p:sp>
      <p:sp>
        <p:nvSpPr>
          <p:cNvPr id="152" name="tx152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Casi un tercio de las llamadas se pierde</a:t>
            </a:r>
          </a:p>
        </p:txBody>
      </p:sp>
      <p:sp>
        <p:nvSpPr>
          <p:cNvPr id="153" name="rc153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54" name="rc154"/>
          <p:cNvSpPr/>
          <p:nvPr/>
        </p:nvSpPr>
        <p:spPr>
          <a:xfrm>
            <a:off x="686000" y="2080000"/>
            <a:ext cx="4250000" cy="345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360000" tIns="91440" rIns="30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s-MX" sz="5400" b="1">
                <a:solidFill>
                  <a:srgbClr val="FFFFFF"/>
                </a:solidFill>
              </a:rPr>
              <a:t>~30%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450" b="1">
                <a:solidFill>
                  <a:srgbClr val="009DD9"/>
                </a:solidFill>
              </a:rPr>
              <a:t>de las llamadas fueron perdidas</a:t>
            </a:r>
          </a:p>
        </p:txBody>
      </p:sp>
      <p:sp>
        <p:nvSpPr>
          <p:cNvPr id="155" name="rc155"/>
          <p:cNvSpPr/>
          <p:nvPr/>
        </p:nvSpPr>
        <p:spPr>
          <a:xfrm>
            <a:off x="5240000" y="2080000"/>
            <a:ext cx="6266000" cy="1625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40000" tIns="91440" rIns="24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1350" b="1">
                <a:solidFill>
                  <a:srgbClr val="17406D"/>
                </a:solidFill>
              </a:rPr>
              <a:t>Consistente con la duración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Coincide con la baja duración mediana observada (~40 segundos).</a:t>
            </a:r>
          </a:p>
        </p:txBody>
      </p:sp>
      <p:sp>
        <p:nvSpPr>
          <p:cNvPr id="156" name="rc156"/>
          <p:cNvSpPr/>
          <p:nvPr/>
        </p:nvSpPr>
        <p:spPr>
          <a:xfrm>
            <a:off x="5240000" y="2080000"/>
            <a:ext cx="90000" cy="1625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57" name="rc157"/>
          <p:cNvSpPr/>
          <p:nvPr/>
        </p:nvSpPr>
        <p:spPr>
          <a:xfrm>
            <a:off x="5240000" y="3905000"/>
            <a:ext cx="6266000" cy="1625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40000" tIns="91440" rIns="24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s-MX" sz="1350" b="1">
                <a:solidFill>
                  <a:srgbClr val="17406D"/>
                </a:solidFill>
              </a:rPr>
              <a:t>Clientes sin atención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Un volumen significativo de clientes cuelga antes de recibir respuesta.</a:t>
            </a:r>
          </a:p>
        </p:txBody>
      </p:sp>
      <p:sp>
        <p:nvSpPr>
          <p:cNvPr id="158" name="rc158"/>
          <p:cNvSpPr/>
          <p:nvPr/>
        </p:nvSpPr>
        <p:spPr>
          <a:xfrm>
            <a:off x="5240000" y="3905000"/>
            <a:ext cx="90000" cy="1625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x159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05 · HALLAZGOS</a:t>
            </a:r>
          </a:p>
        </p:txBody>
      </p:sp>
      <p:sp>
        <p:nvSpPr>
          <p:cNvPr id="160" name="tx160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Actividad muy variable entre operadores</a:t>
            </a:r>
          </a:p>
        </p:txBody>
      </p:sp>
      <p:sp>
        <p:nvSpPr>
          <p:cNvPr id="161" name="rc161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62" name="rc162"/>
          <p:cNvSpPr/>
          <p:nvPr/>
        </p:nvSpPr>
        <p:spPr>
          <a:xfrm>
            <a:off x="686000" y="2080000"/>
            <a:ext cx="5260000" cy="165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80000" tIns="91440" rIns="26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s-MX" sz="4000" b="1">
                <a:solidFill>
                  <a:srgbClr val="0F6FC6"/>
                </a:solidFill>
              </a:rPr>
              <a:t>40–76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300">
                <a:solidFill>
                  <a:srgbClr val="5A6B7B"/>
                </a:solidFill>
              </a:rPr>
              <a:t>llamadas en 4 meses para los operadores más activos</a:t>
            </a:r>
          </a:p>
        </p:txBody>
      </p:sp>
      <p:sp>
        <p:nvSpPr>
          <p:cNvPr id="163" name="rc163"/>
          <p:cNvSpPr/>
          <p:nvPr/>
        </p:nvSpPr>
        <p:spPr>
          <a:xfrm>
            <a:off x="6246000" y="2080000"/>
            <a:ext cx="5260000" cy="165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80000" tIns="91440" rIns="26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s-MX" sz="4000" b="1">
                <a:solidFill>
                  <a:srgbClr val="009DD9"/>
                </a:solidFill>
              </a:rPr>
              <a:t>1–20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300">
                <a:solidFill>
                  <a:srgbClr val="5A6B7B"/>
                </a:solidFill>
              </a:rPr>
              <a:t>llamadas concentran la mayoría de los operadores</a:t>
            </a:r>
          </a:p>
        </p:txBody>
      </p:sp>
      <p:sp>
        <p:nvSpPr>
          <p:cNvPr id="164" name="rc164"/>
          <p:cNvSpPr/>
          <p:nvPr/>
        </p:nvSpPr>
        <p:spPr>
          <a:xfrm>
            <a:off x="686000" y="3950000"/>
            <a:ext cx="10820000" cy="160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340000" tIns="91440" rIns="340000" bIns="91440" anchor="ctr">
            <a:normAutofit/>
          </a:bodyPr>
          <a:lstStyle/>
          <a:p>
            <a:pPr algn="l">
              <a:lnSpc>
                <a:spcPct val="104000"/>
              </a:lnSpc>
              <a:spcAft>
                <a:spcPts val="350"/>
              </a:spcAft>
              <a:buNone/>
            </a:pPr>
            <a:r>
              <a:rPr lang="es-MX" sz="1150" b="1" spc="140">
                <a:solidFill>
                  <a:srgbClr val="009DD9"/>
                </a:solidFill>
              </a:rPr>
              <a:t>Interpretación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450">
                <a:solidFill>
                  <a:srgbClr val="FFFFFF"/>
                </a:solidFill>
              </a:rPr>
              <a:t>No existe una relación clara entre la antigüedad del operador y su volumen de llamadas: algunos operadores con varios meses activos registran muy pocas —o incluso cero— llamadas, lo que refleja una actividad dispersa y difícil de comparar.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x165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06 · LIMITACIÓN CLAVE</a:t>
            </a:r>
          </a:p>
        </p:txBody>
      </p:sp>
      <p:sp>
        <p:nvSpPr>
          <p:cNvPr id="166" name="tx166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Los datos impiden evaluar a cada operador</a:t>
            </a:r>
          </a:p>
        </p:txBody>
      </p:sp>
      <p:sp>
        <p:nvSpPr>
          <p:cNvPr id="167" name="rc167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68" name="rc168"/>
          <p:cNvSpPr/>
          <p:nvPr/>
        </p:nvSpPr>
        <p:spPr>
          <a:xfrm>
            <a:off x="686000" y="1880000"/>
            <a:ext cx="10820000" cy="92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320000" tIns="91440" rIns="320000" bIns="91440" anchor="ctr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600" b="1">
                <a:solidFill>
                  <a:srgbClr val="FFFFFF"/>
                </a:solidFill>
              </a:rPr>
              <a:t>El conjunto original agrupa varias llamadas en un solo registro, por lo que no refleja la actividad real de cada operador.</a:t>
            </a:r>
          </a:p>
        </p:txBody>
      </p:sp>
      <p:sp>
        <p:nvSpPr>
          <p:cNvPr id="169" name="rc169"/>
          <p:cNvSpPr/>
          <p:nvPr/>
        </p:nvSpPr>
        <p:spPr>
          <a:xfrm>
            <a:off x="686000" y="3080000"/>
            <a:ext cx="3406666" cy="195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10000" tIns="230000" rIns="21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s-MX" sz="1600" b="1">
                <a:solidFill>
                  <a:srgbClr val="17406D"/>
                </a:solidFill>
              </a:rPr>
              <a:t>19.37%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de los registros representa llamadas individuales reales.</a:t>
            </a:r>
          </a:p>
        </p:txBody>
      </p:sp>
      <p:sp>
        <p:nvSpPr>
          <p:cNvPr id="170" name="rc170"/>
          <p:cNvSpPr/>
          <p:nvPr/>
        </p:nvSpPr>
        <p:spPr>
          <a:xfrm>
            <a:off x="686000" y="3080000"/>
            <a:ext cx="3406666" cy="9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71" name="rc171"/>
          <p:cNvSpPr/>
          <p:nvPr/>
        </p:nvSpPr>
        <p:spPr>
          <a:xfrm>
            <a:off x="4392666" y="3080000"/>
            <a:ext cx="3406666" cy="195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10000" tIns="230000" rIns="21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s-MX" sz="1600" b="1">
                <a:solidFill>
                  <a:srgbClr val="17406D"/>
                </a:solidFill>
              </a:rPr>
              <a:t>Sin granularidad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No se puede medir cuántas llamadas atendió realmente cada operador.</a:t>
            </a:r>
          </a:p>
        </p:txBody>
      </p:sp>
      <p:sp>
        <p:nvSpPr>
          <p:cNvPr id="172" name="rc172"/>
          <p:cNvSpPr/>
          <p:nvPr/>
        </p:nvSpPr>
        <p:spPr>
          <a:xfrm>
            <a:off x="4392666" y="3080000"/>
            <a:ext cx="3406666" cy="9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73" name="rc173"/>
          <p:cNvSpPr/>
          <p:nvPr/>
        </p:nvSpPr>
        <p:spPr>
          <a:xfrm>
            <a:off x="8099332" y="3080000"/>
            <a:ext cx="3406666" cy="195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10000" tIns="230000" rIns="21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s-MX" sz="1600" b="1">
                <a:solidFill>
                  <a:srgbClr val="17406D"/>
                </a:solidFill>
              </a:rPr>
              <a:t>Solo tendencias</a:t>
            </a:r>
          </a:p>
          <a:p>
            <a:pPr algn="l">
              <a:lnSpc>
                <a:spcPct val="104000"/>
              </a:lnSpc>
              <a:buNone/>
            </a:pPr>
            <a:r>
              <a:rPr lang="es-MX" sz="1250">
                <a:solidFill>
                  <a:srgbClr val="5A6B7B"/>
                </a:solidFill>
              </a:rPr>
              <a:t>El análisis confiable se limita a patrones generales del sistema.</a:t>
            </a:r>
          </a:p>
        </p:txBody>
      </p:sp>
      <p:sp>
        <p:nvSpPr>
          <p:cNvPr id="174" name="rc174"/>
          <p:cNvSpPr/>
          <p:nvPr/>
        </p:nvSpPr>
        <p:spPr>
          <a:xfrm>
            <a:off x="8099332" y="3080000"/>
            <a:ext cx="3406666" cy="90000"/>
          </a:xfrm>
          <a:prstGeom prst="round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75" name="tx175"/>
          <p:cNvSpPr txBox="1"/>
          <p:nvPr/>
        </p:nvSpPr>
        <p:spPr>
          <a:xfrm>
            <a:off x="686000" y="5280000"/>
            <a:ext cx="10820000" cy="4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s-MX" sz="1300" i="1">
                <a:solidFill>
                  <a:srgbClr val="5A6B7B"/>
                </a:solidFill>
              </a:rPr>
              <a:t>La calidad de la captura de datos es hoy la principal barrera para evaluar el desempeño individual.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x176"/>
          <p:cNvSpPr txBox="1"/>
          <p:nvPr/>
        </p:nvSpPr>
        <p:spPr>
          <a:xfrm>
            <a:off x="686000" y="470000"/>
            <a:ext cx="10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1300" b="1" spc="200">
                <a:solidFill>
                  <a:srgbClr val="0F6FC6"/>
                </a:solidFill>
              </a:rPr>
              <a:t>07 · CONCLUSIONES</a:t>
            </a:r>
          </a:p>
        </p:txBody>
      </p:sp>
      <p:sp>
        <p:nvSpPr>
          <p:cNvPr id="177" name="tx177"/>
          <p:cNvSpPr txBox="1"/>
          <p:nvPr/>
        </p:nvSpPr>
        <p:spPr>
          <a:xfrm>
            <a:off x="686000" y="800000"/>
            <a:ext cx="10820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s-MX" sz="3000" b="1">
                <a:solidFill>
                  <a:srgbClr val="17406D"/>
                </a:solidFill>
              </a:rPr>
              <a:t>Conclusiones y recomendaciones</a:t>
            </a:r>
          </a:p>
        </p:txBody>
      </p:sp>
      <p:sp>
        <p:nvSpPr>
          <p:cNvPr id="178" name="rc178"/>
          <p:cNvSpPr/>
          <p:nvPr/>
        </p:nvSpPr>
        <p:spPr>
          <a:xfrm>
            <a:off x="686000" y="1620000"/>
            <a:ext cx="760000" cy="64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79" name="rc179"/>
          <p:cNvSpPr/>
          <p:nvPr/>
        </p:nvSpPr>
        <p:spPr>
          <a:xfrm>
            <a:off x="686000" y="2020000"/>
            <a:ext cx="5230000" cy="3450000"/>
          </a:xfrm>
          <a:prstGeom prst="roundRect">
            <a:avLst/>
          </a:prstGeom>
          <a:solidFill>
            <a:srgbClr val="F2F8FC"/>
          </a:solidFill>
          <a:ln w="12700">
            <a:solidFill>
              <a:srgbClr val="CFE0EC"/>
            </a:solidFill>
          </a:ln>
        </p:spPr>
        <p:txBody>
          <a:bodyPr wrap="square" lIns="260000" tIns="280000" rIns="24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50"/>
              </a:spcAft>
              <a:buNone/>
            </a:pPr>
            <a:r>
              <a:rPr lang="es-MX" sz="1200" b="1" spc="180">
                <a:solidFill>
                  <a:srgbClr val="0F6FC6"/>
                </a:solidFill>
              </a:rPr>
              <a:t>CONCLUSIONES</a:t>
            </a:r>
          </a:p>
          <a:p>
            <a:pPr marL="228600" indent="-228600" algn="l">
              <a:lnSpc>
                <a:spcPct val="104000"/>
              </a:lnSpc>
              <a:spcAft>
                <a:spcPts val="350"/>
              </a:spcAft>
              <a:buClr>
                <a:srgbClr val="009DD9"/>
              </a:buClr>
              <a:buFont typeface="Arial"/>
              <a:buChar char="•"/>
            </a:pPr>
            <a:r>
              <a:rPr lang="es-MX" sz="1350">
                <a:solidFill>
                  <a:srgbClr val="1F2D3D"/>
                </a:solidFill>
              </a:rPr>
              <a:t>La calidad de los datos limita hoy la evaluación individual de los operadores.</a:t>
            </a:r>
          </a:p>
          <a:p>
            <a:pPr marL="228600" indent="-228600" algn="l">
              <a:lnSpc>
                <a:spcPct val="104000"/>
              </a:lnSpc>
              <a:spcAft>
                <a:spcPts val="350"/>
              </a:spcAft>
              <a:buClr>
                <a:srgbClr val="009DD9"/>
              </a:buClr>
              <a:buFont typeface="Arial"/>
              <a:buChar char="•"/>
            </a:pPr>
            <a:r>
              <a:rPr lang="es-MX" sz="1350">
                <a:solidFill>
                  <a:srgbClr val="1F2D3D"/>
                </a:solidFill>
              </a:rPr>
              <a:t>El sistema muestra llamadas muy cortas y cerca del 30% perdidas, una clara oportunidad de mejora del servicio.</a:t>
            </a:r>
          </a:p>
          <a:p>
            <a:pPr marL="228600" indent="-228600" algn="l">
              <a:lnSpc>
                <a:spcPct val="104000"/>
              </a:lnSpc>
              <a:buClr>
                <a:srgbClr val="009DD9"/>
              </a:buClr>
              <a:buFont typeface="Arial"/>
              <a:buChar char="•"/>
            </a:pPr>
            <a:r>
              <a:rPr lang="es-MX" sz="1350">
                <a:solidFill>
                  <a:srgbClr val="1F2D3D"/>
                </a:solidFill>
              </a:rPr>
              <a:t>El análisis solo permite leer tendencias generales, no el desempeño por operador.</a:t>
            </a:r>
          </a:p>
        </p:txBody>
      </p:sp>
      <p:sp>
        <p:nvSpPr>
          <p:cNvPr id="180" name="rc180"/>
          <p:cNvSpPr/>
          <p:nvPr/>
        </p:nvSpPr>
        <p:spPr>
          <a:xfrm>
            <a:off x="6276000" y="2020000"/>
            <a:ext cx="5230000" cy="3450000"/>
          </a:xfrm>
          <a:prstGeom prst="roundRect">
            <a:avLst/>
          </a:prstGeom>
          <a:solidFill>
            <a:srgbClr val="17406D"/>
          </a:solidFill>
          <a:ln>
            <a:noFill/>
          </a:ln>
        </p:spPr>
        <p:txBody>
          <a:bodyPr wrap="square" lIns="260000" tIns="280000" rIns="240000" bIns="9144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450"/>
              </a:spcAft>
              <a:buNone/>
            </a:pPr>
            <a:r>
              <a:rPr lang="es-MX" sz="1200" b="1" spc="180">
                <a:solidFill>
                  <a:srgbClr val="009DD9"/>
                </a:solidFill>
              </a:rPr>
              <a:t>RECOMENDACIONES</a:t>
            </a:r>
          </a:p>
          <a:p>
            <a:pPr marL="228600" indent="-228600" algn="l">
              <a:lnSpc>
                <a:spcPct val="104000"/>
              </a:lnSpc>
              <a:spcAft>
                <a:spcPts val="350"/>
              </a:spcAft>
              <a:buClr>
                <a:srgbClr val="009DD9"/>
              </a:buClr>
              <a:buFont typeface="Arial"/>
              <a:buChar char="•"/>
            </a:pPr>
            <a:r>
              <a:rPr lang="es-MX" sz="1350">
                <a:solidFill>
                  <a:srgbClr val="FFFFFF"/>
                </a:solidFill>
              </a:rPr>
              <a:t>Registrar cada llamada como una observación independiente, sin agregaciones.</a:t>
            </a:r>
          </a:p>
          <a:p>
            <a:pPr marL="228600" indent="-228600" algn="l">
              <a:lnSpc>
                <a:spcPct val="104000"/>
              </a:lnSpc>
              <a:spcAft>
                <a:spcPts val="350"/>
              </a:spcAft>
              <a:buClr>
                <a:srgbClr val="009DD9"/>
              </a:buClr>
              <a:buFont typeface="Arial"/>
              <a:buChar char="•"/>
            </a:pPr>
            <a:r>
              <a:rPr lang="es-MX" sz="1350">
                <a:solidFill>
                  <a:srgbClr val="FFFFFF"/>
                </a:solidFill>
              </a:rPr>
              <a:t>Optimizar el proceso de captura para habilitar métricas confiables por operador.</a:t>
            </a:r>
          </a:p>
          <a:p>
            <a:pPr marL="228600" indent="-228600" algn="l">
              <a:lnSpc>
                <a:spcPct val="104000"/>
              </a:lnSpc>
              <a:buClr>
                <a:srgbClr val="009DD9"/>
              </a:buClr>
              <a:buFont typeface="Arial"/>
              <a:buChar char="•"/>
            </a:pPr>
            <a:r>
              <a:rPr lang="es-MX" sz="1350">
                <a:solidFill>
                  <a:srgbClr val="FFFFFF"/>
                </a:solidFill>
              </a:rPr>
              <a:t>Con datos granulares, definir criterios de eficiencia y validarlos con pruebas estadísticas.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129_TF56219246.potx" id="{F5AEA1D6-3467-4410-B96B-0D67AC8BB026}" vid="{8035A50F-42EA-4732-82EE-B622A3D2CB2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{1E62B97F-24E9-4C35-8071-2F534050D6BF}TF993b3720-55e5-4d3e-ae7c-1ec77a73f5a46051cb8e_win32-06c34901eb4e</Template>
  <TotalTime>33</TotalTime>
  <Words>646</Words>
  <Application>Microsoft Office PowerPoint</Application>
  <PresentationFormat>Panorámica</PresentationFormat>
  <Paragraphs>94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Avenir Next LT Pro</vt:lpstr>
      <vt:lpstr>Avenir Next LT Pro Light</vt:lpstr>
      <vt:lpstr>Calibri</vt:lpstr>
      <vt:lpstr>Garamond</vt:lpstr>
      <vt:lpstr>SavonVTI</vt:lpstr>
      <vt:lpstr>Operadores ineficientes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Mercado</dc:creator>
  <cp:lastModifiedBy>Fernando Mercado</cp:lastModifiedBy>
  <cp:revision>1</cp:revision>
  <dcterms:created xsi:type="dcterms:W3CDTF">2026-06-26T15:50:13Z</dcterms:created>
  <dcterms:modified xsi:type="dcterms:W3CDTF">2026-06-26T17:32:15Z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